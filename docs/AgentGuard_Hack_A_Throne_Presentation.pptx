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0A"/>
          </a:solidFill>
          <a:ln w="12700">
            <a:solidFill>
              <a:srgbClr val="060B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74980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55448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95681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35915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76148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16382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56616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37083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477316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17550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57784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598017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638251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678484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718718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799185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839419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879652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19886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1000353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040587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1080820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1121054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161288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201521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0" y="274320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0" y="676656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0" y="1481328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0" y="1883664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0" y="2688336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0" y="3090672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0" y="3493008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0" y="3895344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0" y="4297680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0" y="4700016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0" y="5504688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0" y="5907024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0" y="6309360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0" y="6711696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B9FF3B"/>
          </a:solidFill>
          <a:ln w="12700">
            <a:solidFill>
              <a:srgbClr val="B9FF3B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" y="6528816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spc="120" kern="0" dirty="0">
                <a:solidFill>
                  <a:srgbClr val="7D9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 / HACK-A-THRONE 2026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10927080" y="6510528"/>
            <a:ext cx="713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7D9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08</a:t>
            </a:r>
            <a:endParaRPr lang="en-US" sz="860" dirty="0"/>
          </a:p>
        </p:txBody>
      </p:sp>
      <p:sp>
        <p:nvSpPr>
          <p:cNvPr id="53" name="Shape 51"/>
          <p:cNvSpPr/>
          <p:nvPr/>
        </p:nvSpPr>
        <p:spPr>
          <a:xfrm>
            <a:off x="640080" y="630936"/>
            <a:ext cx="2395728" cy="301752"/>
          </a:xfrm>
          <a:prstGeom prst="roundRect">
            <a:avLst>
              <a:gd name="adj" fmla="val 36364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8952" y="699516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30" kern="0" dirty="0">
                <a:solidFill>
                  <a:srgbClr val="B9F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&amp; INTELLIGENT SYSTEMS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67512" y="1490472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0" b="1" spc="-150" kern="0" dirty="0">
                <a:solidFill>
                  <a:srgbClr val="EAF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</a:t>
            </a:r>
            <a:endParaRPr lang="en-US" sz="6400" dirty="0"/>
          </a:p>
        </p:txBody>
      </p:sp>
      <p:sp>
        <p:nvSpPr>
          <p:cNvPr id="56" name="Text 54"/>
          <p:cNvSpPr/>
          <p:nvPr/>
        </p:nvSpPr>
        <p:spPr>
          <a:xfrm>
            <a:off x="667512" y="2313432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0" b="1" spc="-150" kern="0" dirty="0">
                <a:solidFill>
                  <a:srgbClr val="B9F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</a:t>
            </a:r>
            <a:endParaRPr lang="en-US" sz="6700" dirty="0"/>
          </a:p>
        </p:txBody>
      </p:sp>
      <p:sp>
        <p:nvSpPr>
          <p:cNvPr id="57" name="Text 55"/>
          <p:cNvSpPr/>
          <p:nvPr/>
        </p:nvSpPr>
        <p:spPr>
          <a:xfrm>
            <a:off x="704088" y="3694176"/>
            <a:ext cx="6446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30" b="1" dirty="0">
                <a:solidFill>
                  <a:srgbClr val="EAF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Runtime Security for Autonomous AI Agents</a:t>
            </a:r>
            <a:endParaRPr lang="en-US" sz="2030" dirty="0"/>
          </a:p>
        </p:txBody>
      </p:sp>
      <p:sp>
        <p:nvSpPr>
          <p:cNvPr id="58" name="Text 56"/>
          <p:cNvSpPr/>
          <p:nvPr/>
        </p:nvSpPr>
        <p:spPr>
          <a:xfrm>
            <a:off x="704088" y="442569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9CAF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AI act. Keep humans in control.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94944" y="5266944"/>
            <a:ext cx="4709160" cy="649224"/>
          </a:xfrm>
          <a:prstGeom prst="roundRect">
            <a:avLst>
              <a:gd name="adj" fmla="val 19718"/>
            </a:avLst>
          </a:prstGeom>
          <a:solidFill>
            <a:srgbClr val="12231B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96112" y="547725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spc="80" kern="0" dirty="0">
                <a:solidFill>
                  <a:srgbClr val="53F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HACK-A-THRONE 2026   /   CONCEPT PITCH</a:t>
            </a:r>
            <a:endParaRPr lang="en-US" sz="1130" dirty="0"/>
          </a:p>
        </p:txBody>
      </p:sp>
      <p:sp>
        <p:nvSpPr>
          <p:cNvPr id="61" name="Shape 59"/>
          <p:cNvSpPr/>
          <p:nvPr/>
        </p:nvSpPr>
        <p:spPr>
          <a:xfrm>
            <a:off x="7735824" y="1298448"/>
            <a:ext cx="3017520" cy="3017520"/>
          </a:xfrm>
          <a:prstGeom prst="ellipse">
            <a:avLst/>
          </a:prstGeom>
          <a:solidFill>
            <a:srgbClr val="0D1512"/>
          </a:solidFill>
          <a:ln w="20320">
            <a:solidFill>
              <a:srgbClr val="28423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055864" y="1618488"/>
            <a:ext cx="2377440" cy="2377440"/>
          </a:xfrm>
          <a:prstGeom prst="ellipse">
            <a:avLst/>
          </a:prstGeom>
          <a:solidFill>
            <a:srgbClr val="101A16"/>
          </a:solidFill>
          <a:ln w="25400">
            <a:solidFill>
              <a:srgbClr val="B9FF3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668512" y="2121408"/>
            <a:ext cx="1161288" cy="1252728"/>
          </a:xfrm>
          <a:prstGeom prst="hexagon">
            <a:avLst/>
          </a:prstGeom>
          <a:solidFill>
            <a:srgbClr val="12231B"/>
          </a:solidFill>
          <a:ln w="25400">
            <a:solidFill>
              <a:srgbClr val="B9FF3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887968" y="2478024"/>
            <a:ext cx="7406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B9F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</a:t>
            </a:r>
            <a:endParaRPr lang="en-US" sz="2500" dirty="0"/>
          </a:p>
        </p:txBody>
      </p:sp>
      <p:sp>
        <p:nvSpPr>
          <p:cNvPr id="65" name="Shape 63"/>
          <p:cNvSpPr/>
          <p:nvPr/>
        </p:nvSpPr>
        <p:spPr>
          <a:xfrm>
            <a:off x="7461504" y="941832"/>
            <a:ext cx="1188720" cy="329184"/>
          </a:xfrm>
          <a:prstGeom prst="roundRect">
            <a:avLst>
              <a:gd name="adj" fmla="val 38889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98080" y="99669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spc="100" kern="0" dirty="0">
                <a:solidFill>
                  <a:srgbClr val="53F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</a:t>
            </a:r>
            <a:endParaRPr lang="en-US" sz="970" dirty="0"/>
          </a:p>
        </p:txBody>
      </p:sp>
      <p:sp>
        <p:nvSpPr>
          <p:cNvPr id="67" name="Shape 65"/>
          <p:cNvSpPr/>
          <p:nvPr/>
        </p:nvSpPr>
        <p:spPr>
          <a:xfrm>
            <a:off x="10369296" y="1499616"/>
            <a:ext cx="1188720" cy="329184"/>
          </a:xfrm>
          <a:prstGeom prst="roundRect">
            <a:avLst>
              <a:gd name="adj" fmla="val 38889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405872" y="155448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spc="100" kern="0" dirty="0">
                <a:solidFill>
                  <a:srgbClr val="53F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970" dirty="0"/>
          </a:p>
        </p:txBody>
      </p:sp>
      <p:sp>
        <p:nvSpPr>
          <p:cNvPr id="69" name="Shape 67"/>
          <p:cNvSpPr/>
          <p:nvPr/>
        </p:nvSpPr>
        <p:spPr>
          <a:xfrm>
            <a:off x="10424160" y="4352544"/>
            <a:ext cx="1188720" cy="329184"/>
          </a:xfrm>
          <a:prstGeom prst="roundRect">
            <a:avLst>
              <a:gd name="adj" fmla="val 38889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460736" y="440740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spc="100" kern="0" dirty="0">
                <a:solidFill>
                  <a:srgbClr val="53F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</a:t>
            </a:r>
            <a:endParaRPr lang="en-US" sz="970" dirty="0"/>
          </a:p>
        </p:txBody>
      </p:sp>
      <p:sp>
        <p:nvSpPr>
          <p:cNvPr id="71" name="Shape 69"/>
          <p:cNvSpPr/>
          <p:nvPr/>
        </p:nvSpPr>
        <p:spPr>
          <a:xfrm>
            <a:off x="7370064" y="4727448"/>
            <a:ext cx="1188720" cy="329184"/>
          </a:xfrm>
          <a:prstGeom prst="roundRect">
            <a:avLst>
              <a:gd name="adj" fmla="val 38889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406640" y="478231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spc="100" kern="0" dirty="0">
                <a:solidFill>
                  <a:srgbClr val="53F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</a:t>
            </a:r>
            <a:endParaRPr lang="en-US" sz="970" dirty="0"/>
          </a:p>
        </p:txBody>
      </p:sp>
      <p:sp>
        <p:nvSpPr>
          <p:cNvPr id="73" name="Shape 71"/>
          <p:cNvSpPr/>
          <p:nvPr/>
        </p:nvSpPr>
        <p:spPr>
          <a:xfrm>
            <a:off x="8577072" y="1289304"/>
            <a:ext cx="45720" cy="356616"/>
          </a:xfrm>
          <a:prstGeom prst="line">
            <a:avLst/>
          </a:prstGeom>
          <a:noFill/>
          <a:ln w="19050">
            <a:solidFill>
              <a:srgbClr val="53F5A8"/>
            </a:solidFill>
            <a:prstDash val="solid"/>
            <a:headEnd type="none"/>
            <a:tailEnd type="none"/>
          </a:ln>
        </p:spPr>
      </p:sp>
      <p:sp>
        <p:nvSpPr>
          <p:cNvPr id="74" name="Shape 72"/>
          <p:cNvSpPr/>
          <p:nvPr/>
        </p:nvSpPr>
        <p:spPr>
          <a:xfrm>
            <a:off x="10186416" y="2276856"/>
            <a:ext cx="265176" cy="-356616"/>
          </a:xfrm>
          <a:prstGeom prst="line">
            <a:avLst/>
          </a:prstGeom>
          <a:noFill/>
          <a:ln w="19050">
            <a:solidFill>
              <a:srgbClr val="53F5A8"/>
            </a:solidFill>
            <a:prstDash val="solid"/>
            <a:headEnd type="none"/>
            <a:tailEnd type="none"/>
          </a:ln>
        </p:spPr>
      </p:sp>
      <p:sp>
        <p:nvSpPr>
          <p:cNvPr id="75" name="Shape 73"/>
          <p:cNvSpPr/>
          <p:nvPr/>
        </p:nvSpPr>
        <p:spPr>
          <a:xfrm>
            <a:off x="9939528" y="3794760"/>
            <a:ext cx="694944" cy="557784"/>
          </a:xfrm>
          <a:prstGeom prst="line">
            <a:avLst/>
          </a:prstGeom>
          <a:noFill/>
          <a:ln w="19050">
            <a:solidFill>
              <a:srgbClr val="53F5A8"/>
            </a:solidFill>
            <a:prstDash val="solid"/>
            <a:headEnd type="none"/>
            <a:tailEnd type="none"/>
          </a:ln>
        </p:spPr>
      </p:sp>
      <p:sp>
        <p:nvSpPr>
          <p:cNvPr id="76" name="Shape 74"/>
          <p:cNvSpPr/>
          <p:nvPr/>
        </p:nvSpPr>
        <p:spPr>
          <a:xfrm>
            <a:off x="8357616" y="3995928"/>
            <a:ext cx="-411480" cy="731520"/>
          </a:xfrm>
          <a:prstGeom prst="line">
            <a:avLst/>
          </a:prstGeom>
          <a:noFill/>
          <a:ln w="19050">
            <a:solidFill>
              <a:srgbClr val="53F5A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0A"/>
          </a:solidFill>
          <a:ln w="12700">
            <a:solidFill>
              <a:srgbClr val="060B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74980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55448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95681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35915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76148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16382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56616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37083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477316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17550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57784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598017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638251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678484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718718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799185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839419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879652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19886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1000353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040587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1080820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1121054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161288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201521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0" y="274320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0" y="676656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0" y="1481328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0" y="1883664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0" y="2688336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0" y="3090672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0" y="3493008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0" y="3895344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0" y="4297680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0" y="4700016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0" y="5504688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0" y="5907024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0" y="6309360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0" y="6711696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B9FF3B"/>
          </a:solidFill>
          <a:ln w="12700">
            <a:solidFill>
              <a:srgbClr val="B9FF3B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" y="6528816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spc="120" kern="0" dirty="0">
                <a:solidFill>
                  <a:srgbClr val="7D9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 / HACK-A-THRONE 2026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10927080" y="6510528"/>
            <a:ext cx="713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7D9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08</a:t>
            </a:r>
            <a:endParaRPr lang="en-US" sz="860" dirty="0"/>
          </a:p>
        </p:txBody>
      </p:sp>
      <p:sp>
        <p:nvSpPr>
          <p:cNvPr id="53" name="Shape 51"/>
          <p:cNvSpPr/>
          <p:nvPr/>
        </p:nvSpPr>
        <p:spPr>
          <a:xfrm>
            <a:off x="548640" y="347472"/>
            <a:ext cx="1276502" cy="301752"/>
          </a:xfrm>
          <a:prstGeom prst="roundRect">
            <a:avLst>
              <a:gd name="adj" fmla="val 36364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7512" y="416052"/>
            <a:ext cx="103875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30" kern="0" dirty="0">
                <a:solidFill>
                  <a:srgbClr val="B9F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48640" y="8321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-50" kern="0" dirty="0">
                <a:solidFill>
                  <a:srgbClr val="EAF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agents can do more than users intended.</a:t>
            </a:r>
            <a:endParaRPr lang="en-US" sz="3000" dirty="0"/>
          </a:p>
        </p:txBody>
      </p:sp>
      <p:sp>
        <p:nvSpPr>
          <p:cNvPr id="56" name="Text 54"/>
          <p:cNvSpPr/>
          <p:nvPr/>
        </p:nvSpPr>
        <p:spPr>
          <a:xfrm>
            <a:off x="557784" y="149047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9CAF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capable agent with file, terminal and network access can accidentally cross critical boundaries.</a:t>
            </a:r>
            <a:endParaRPr lang="en-US" sz="1320" dirty="0"/>
          </a:p>
        </p:txBody>
      </p:sp>
      <p:sp>
        <p:nvSpPr>
          <p:cNvPr id="57" name="Shape 55"/>
          <p:cNvSpPr/>
          <p:nvPr/>
        </p:nvSpPr>
        <p:spPr>
          <a:xfrm>
            <a:off x="603504" y="2029968"/>
            <a:ext cx="3520440" cy="2103120"/>
          </a:xfrm>
          <a:prstGeom prst="roundRect">
            <a:avLst>
              <a:gd name="adj" fmla="val 6957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03504" y="2029968"/>
            <a:ext cx="50292" cy="2103120"/>
          </a:xfrm>
          <a:prstGeom prst="rect">
            <a:avLst/>
          </a:prstGeom>
          <a:solidFill>
            <a:srgbClr val="FF7186"/>
          </a:solidFill>
          <a:ln w="12700">
            <a:solidFill>
              <a:srgbClr val="FF7186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86384" y="2194560"/>
            <a:ext cx="466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95528" y="268833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Accidental damage</a:t>
            </a:r>
            <a:endParaRPr lang="en-US" sz="1700" dirty="0"/>
          </a:p>
        </p:txBody>
      </p:sp>
      <p:sp>
        <p:nvSpPr>
          <p:cNvPr id="61" name="Text 59"/>
          <p:cNvSpPr/>
          <p:nvPr/>
        </p:nvSpPr>
        <p:spPr>
          <a:xfrm>
            <a:off x="795528" y="3108960"/>
            <a:ext cx="312724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CAF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Mass file edits, destructive commands, unintended deletions or overwrites.</a:t>
            </a:r>
            <a:endParaRPr lang="en-US" sz="1280" dirty="0"/>
          </a:p>
        </p:txBody>
      </p:sp>
      <p:sp>
        <p:nvSpPr>
          <p:cNvPr id="62" name="Shape 60"/>
          <p:cNvSpPr/>
          <p:nvPr/>
        </p:nvSpPr>
        <p:spPr>
          <a:xfrm>
            <a:off x="4325112" y="2029968"/>
            <a:ext cx="3520440" cy="2103120"/>
          </a:xfrm>
          <a:prstGeom prst="roundRect">
            <a:avLst>
              <a:gd name="adj" fmla="val 6957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325112" y="2029968"/>
            <a:ext cx="50292" cy="2103120"/>
          </a:xfrm>
          <a:prstGeom prst="rect">
            <a:avLst/>
          </a:prstGeom>
          <a:solidFill>
            <a:srgbClr val="FFBD6B"/>
          </a:solidFill>
          <a:ln w="12700">
            <a:solidFill>
              <a:srgbClr val="FFBD6B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07992" y="2194560"/>
            <a:ext cx="466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4517136" y="268833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Sensitive access</a:t>
            </a:r>
            <a:endParaRPr lang="en-US" sz="1700" dirty="0"/>
          </a:p>
        </p:txBody>
      </p:sp>
      <p:sp>
        <p:nvSpPr>
          <p:cNvPr id="66" name="Text 64"/>
          <p:cNvSpPr/>
          <p:nvPr/>
        </p:nvSpPr>
        <p:spPr>
          <a:xfrm>
            <a:off x="4517136" y="3108960"/>
            <a:ext cx="312724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CAF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may open secrets, credentials or private folders beyond their assigned task.</a:t>
            </a:r>
            <a:endParaRPr lang="en-US" sz="1280" dirty="0"/>
          </a:p>
        </p:txBody>
      </p:sp>
      <p:sp>
        <p:nvSpPr>
          <p:cNvPr id="67" name="Shape 65"/>
          <p:cNvSpPr/>
          <p:nvPr/>
        </p:nvSpPr>
        <p:spPr>
          <a:xfrm>
            <a:off x="8046720" y="2029968"/>
            <a:ext cx="3520440" cy="2103120"/>
          </a:xfrm>
          <a:prstGeom prst="roundRect">
            <a:avLst>
              <a:gd name="adj" fmla="val 6957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046720" y="2029968"/>
            <a:ext cx="50292" cy="2103120"/>
          </a:xfrm>
          <a:prstGeom prst="rect">
            <a:avLst/>
          </a:prstGeom>
          <a:solidFill>
            <a:srgbClr val="80DFF8"/>
          </a:solidFill>
          <a:ln w="12700">
            <a:solidFill>
              <a:srgbClr val="80DFF8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229600" y="2194560"/>
            <a:ext cx="466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0DF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238744" y="268833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supervision</a:t>
            </a:r>
            <a:endParaRPr lang="en-US" sz="1700" dirty="0"/>
          </a:p>
        </p:txBody>
      </p:sp>
      <p:sp>
        <p:nvSpPr>
          <p:cNvPr id="71" name="Text 69"/>
          <p:cNvSpPr/>
          <p:nvPr/>
        </p:nvSpPr>
        <p:spPr>
          <a:xfrm>
            <a:off x="8238744" y="3108960"/>
            <a:ext cx="312724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CAF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security tools cannot always understand agent intent or task context.</a:t>
            </a:r>
            <a:endParaRPr lang="en-US" sz="1280" dirty="0"/>
          </a:p>
        </p:txBody>
      </p:sp>
      <p:sp>
        <p:nvSpPr>
          <p:cNvPr id="72" name="Shape 70"/>
          <p:cNvSpPr/>
          <p:nvPr/>
        </p:nvSpPr>
        <p:spPr>
          <a:xfrm>
            <a:off x="621792" y="4645152"/>
            <a:ext cx="10936224" cy="822960"/>
          </a:xfrm>
          <a:prstGeom prst="roundRect">
            <a:avLst>
              <a:gd name="adj" fmla="val 15556"/>
            </a:avLst>
          </a:prstGeom>
          <a:solidFill>
            <a:srgbClr val="12231B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59536" y="4837176"/>
            <a:ext cx="1975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b="1" spc="120" kern="0" dirty="0">
                <a:solidFill>
                  <a:srgbClr val="B9F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SECURITY GAP</a:t>
            </a:r>
            <a:endParaRPr lang="en-US" sz="1180" dirty="0"/>
          </a:p>
        </p:txBody>
      </p:sp>
      <p:sp>
        <p:nvSpPr>
          <p:cNvPr id="74" name="Text 72"/>
          <p:cNvSpPr/>
          <p:nvPr/>
        </p:nvSpPr>
        <p:spPr>
          <a:xfrm>
            <a:off x="2843784" y="48280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AF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 to run ≠ permission to do anything.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0A"/>
          </a:solidFill>
          <a:ln w="12700">
            <a:solidFill>
              <a:srgbClr val="060B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74980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55448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95681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35915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76148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16382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56616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37083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477316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17550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57784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598017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638251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678484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718718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799185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839419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879652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19886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1000353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040587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1080820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1121054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161288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201521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0" y="274320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0" y="676656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0" y="1481328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0" y="1883664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0" y="2688336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0" y="3090672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0" y="3493008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0" y="3895344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0" y="4297680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0" y="4700016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0" y="5504688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0" y="5907024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0" y="6309360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0" y="6711696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B9FF3B"/>
          </a:solidFill>
          <a:ln w="12700">
            <a:solidFill>
              <a:srgbClr val="B9FF3B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" y="6528816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spc="120" kern="0" dirty="0">
                <a:solidFill>
                  <a:srgbClr val="7D9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 / HACK-A-THRONE 2026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10927080" y="6510528"/>
            <a:ext cx="713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7D9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08</a:t>
            </a:r>
            <a:endParaRPr lang="en-US" sz="860" dirty="0"/>
          </a:p>
        </p:txBody>
      </p:sp>
      <p:sp>
        <p:nvSpPr>
          <p:cNvPr id="53" name="Shape 51"/>
          <p:cNvSpPr/>
          <p:nvPr/>
        </p:nvSpPr>
        <p:spPr>
          <a:xfrm>
            <a:off x="548640" y="347472"/>
            <a:ext cx="1355141" cy="301752"/>
          </a:xfrm>
          <a:prstGeom prst="roundRect">
            <a:avLst>
              <a:gd name="adj" fmla="val 36364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7512" y="416052"/>
            <a:ext cx="111739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30" kern="0" dirty="0">
                <a:solidFill>
                  <a:srgbClr val="B9F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SOLUTION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48640" y="8321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-50" kern="0" dirty="0">
                <a:solidFill>
                  <a:srgbClr val="EAF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security checkpoint between agents and actions.</a:t>
            </a:r>
            <a:endParaRPr lang="en-US" sz="3000" dirty="0"/>
          </a:p>
        </p:txBody>
      </p:sp>
      <p:sp>
        <p:nvSpPr>
          <p:cNvPr id="56" name="Text 54"/>
          <p:cNvSpPr/>
          <p:nvPr/>
        </p:nvSpPr>
        <p:spPr>
          <a:xfrm>
            <a:off x="557784" y="149047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9CAF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AgentGuard evaluates every high-impact tool request before damage can happen.</a:t>
            </a:r>
            <a:endParaRPr lang="en-US" sz="1320" dirty="0"/>
          </a:p>
        </p:txBody>
      </p:sp>
      <p:sp>
        <p:nvSpPr>
          <p:cNvPr id="57" name="Shape 55"/>
          <p:cNvSpPr/>
          <p:nvPr/>
        </p:nvSpPr>
        <p:spPr>
          <a:xfrm>
            <a:off x="640080" y="2395728"/>
            <a:ext cx="2148840" cy="1517904"/>
          </a:xfrm>
          <a:prstGeom prst="roundRect">
            <a:avLst>
              <a:gd name="adj" fmla="val 8434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0080" y="2395728"/>
            <a:ext cx="2148840" cy="64008"/>
          </a:xfrm>
          <a:prstGeom prst="roundRect">
            <a:avLst>
              <a:gd name="adj" fmla="val 200000"/>
            </a:avLst>
          </a:prstGeom>
          <a:solidFill>
            <a:srgbClr val="80DFF8"/>
          </a:solidFill>
          <a:ln w="12700">
            <a:solidFill>
              <a:srgbClr val="80DFF8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8952" y="2724912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80DF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</a:t>
            </a:r>
            <a:endParaRPr lang="en-US" sz="1740" dirty="0"/>
          </a:p>
        </p:txBody>
      </p:sp>
      <p:sp>
        <p:nvSpPr>
          <p:cNvPr id="60" name="Text 58"/>
          <p:cNvSpPr/>
          <p:nvPr/>
        </p:nvSpPr>
        <p:spPr>
          <a:xfrm>
            <a:off x="758952" y="3172968"/>
            <a:ext cx="19110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9CAF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&amp; intended goal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3090672" y="2395728"/>
            <a:ext cx="3017520" cy="1517904"/>
          </a:xfrm>
          <a:prstGeom prst="roundRect">
            <a:avLst>
              <a:gd name="adj" fmla="val 8434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090672" y="2395728"/>
            <a:ext cx="3017520" cy="64008"/>
          </a:xfrm>
          <a:prstGeom prst="roundRect">
            <a:avLst>
              <a:gd name="adj" fmla="val 200000"/>
            </a:avLst>
          </a:prstGeom>
          <a:solidFill>
            <a:srgbClr val="B9FF3B"/>
          </a:solidFill>
          <a:ln w="12700">
            <a:solidFill>
              <a:srgbClr val="B9FF3B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09544" y="2724912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B9F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AGENTGUARD</a:t>
            </a:r>
            <a:endParaRPr lang="en-US" sz="1740" dirty="0"/>
          </a:p>
        </p:txBody>
      </p:sp>
      <p:sp>
        <p:nvSpPr>
          <p:cNvPr id="64" name="Text 62"/>
          <p:cNvSpPr/>
          <p:nvPr/>
        </p:nvSpPr>
        <p:spPr>
          <a:xfrm>
            <a:off x="3209544" y="3172968"/>
            <a:ext cx="27797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9CAF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• Context • Risk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6428232" y="2395728"/>
            <a:ext cx="2331720" cy="1517904"/>
          </a:xfrm>
          <a:prstGeom prst="roundRect">
            <a:avLst>
              <a:gd name="adj" fmla="val 8434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428232" y="2395728"/>
            <a:ext cx="2331720" cy="64008"/>
          </a:xfrm>
          <a:prstGeom prst="roundRect">
            <a:avLst>
              <a:gd name="adj" fmla="val 200000"/>
            </a:avLst>
          </a:prstGeom>
          <a:solidFill>
            <a:srgbClr val="53F5A8"/>
          </a:solidFill>
          <a:ln w="12700">
            <a:solidFill>
              <a:srgbClr val="53F5A8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47104" y="2724912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53F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740" dirty="0"/>
          </a:p>
        </p:txBody>
      </p:sp>
      <p:sp>
        <p:nvSpPr>
          <p:cNvPr id="68" name="Text 66"/>
          <p:cNvSpPr/>
          <p:nvPr/>
        </p:nvSpPr>
        <p:spPr>
          <a:xfrm>
            <a:off x="6547104" y="3172968"/>
            <a:ext cx="20939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9CAF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 / Ask / Block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9070848" y="2395728"/>
            <a:ext cx="2468880" cy="1517904"/>
          </a:xfrm>
          <a:prstGeom prst="roundRect">
            <a:avLst>
              <a:gd name="adj" fmla="val 8434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070848" y="2395728"/>
            <a:ext cx="2468880" cy="64008"/>
          </a:xfrm>
          <a:prstGeom prst="roundRect">
            <a:avLst>
              <a:gd name="adj" fmla="val 200000"/>
            </a:avLst>
          </a:prstGeom>
          <a:solidFill>
            <a:srgbClr val="FFBD6B"/>
          </a:solidFill>
          <a:ln w="12700">
            <a:solidFill>
              <a:srgbClr val="FFBD6B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189720" y="272491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FFB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TOOLS</a:t>
            </a:r>
            <a:endParaRPr lang="en-US" sz="1740" dirty="0"/>
          </a:p>
        </p:txBody>
      </p:sp>
      <p:sp>
        <p:nvSpPr>
          <p:cNvPr id="72" name="Text 70"/>
          <p:cNvSpPr/>
          <p:nvPr/>
        </p:nvSpPr>
        <p:spPr>
          <a:xfrm>
            <a:off x="9189720" y="3172968"/>
            <a:ext cx="22311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9CAF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 • Shell • Network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2798064" y="3154680"/>
            <a:ext cx="237744" cy="0"/>
          </a:xfrm>
          <a:prstGeom prst="line">
            <a:avLst/>
          </a:prstGeom>
          <a:noFill/>
          <a:ln w="25400">
            <a:solidFill>
              <a:srgbClr val="53F5A8"/>
            </a:solidFill>
            <a:prstDash val="solid"/>
            <a:headEnd type="none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6126480" y="3154680"/>
            <a:ext cx="265176" cy="0"/>
          </a:xfrm>
          <a:prstGeom prst="line">
            <a:avLst/>
          </a:prstGeom>
          <a:noFill/>
          <a:ln w="25400">
            <a:solidFill>
              <a:srgbClr val="53F5A8"/>
            </a:solidFill>
            <a:prstDash val="solid"/>
            <a:headEnd type="none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8769096" y="3154680"/>
            <a:ext cx="265176" cy="0"/>
          </a:xfrm>
          <a:prstGeom prst="line">
            <a:avLst/>
          </a:prstGeom>
          <a:noFill/>
          <a:ln w="25400">
            <a:solidFill>
              <a:srgbClr val="53F5A8"/>
            </a:solidFill>
            <a:prstDash val="solid"/>
            <a:headEnd type="none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1947672" y="4581144"/>
            <a:ext cx="8412480" cy="868680"/>
          </a:xfrm>
          <a:prstGeom prst="roundRect">
            <a:avLst>
              <a:gd name="adj" fmla="val 14737"/>
            </a:avLst>
          </a:prstGeom>
          <a:solidFill>
            <a:srgbClr val="12231B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203704" y="478231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9F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principle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3886200" y="472744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10" b="1" dirty="0">
                <a:solidFill>
                  <a:srgbClr val="EAF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Silent when safe. Explainable when risky. Protective when critical.</a:t>
            </a:r>
            <a:endParaRPr lang="en-US" sz="16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0A"/>
          </a:solidFill>
          <a:ln w="12700">
            <a:solidFill>
              <a:srgbClr val="060B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74980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55448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95681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35915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76148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16382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56616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37083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477316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17550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57784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598017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638251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678484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718718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799185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839419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879652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19886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1000353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040587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1080820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1121054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161288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201521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0" y="274320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0" y="676656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0" y="1481328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0" y="1883664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0" y="2688336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0" y="3090672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0" y="3493008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0" y="3895344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0" y="4297680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0" y="4700016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0" y="5504688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0" y="5907024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0" y="6309360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0" y="6711696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B9FF3B"/>
          </a:solidFill>
          <a:ln w="12700">
            <a:solidFill>
              <a:srgbClr val="B9FF3B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" y="6528816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spc="120" kern="0" dirty="0">
                <a:solidFill>
                  <a:srgbClr val="7D9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 / HACK-A-THRONE 2026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10927080" y="6510528"/>
            <a:ext cx="713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7D9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08</a:t>
            </a:r>
            <a:endParaRPr lang="en-US" sz="860" dirty="0"/>
          </a:p>
        </p:txBody>
      </p:sp>
      <p:sp>
        <p:nvSpPr>
          <p:cNvPr id="53" name="Shape 51"/>
          <p:cNvSpPr/>
          <p:nvPr/>
        </p:nvSpPr>
        <p:spPr>
          <a:xfrm>
            <a:off x="548640" y="347472"/>
            <a:ext cx="1748333" cy="301752"/>
          </a:xfrm>
          <a:prstGeom prst="roundRect">
            <a:avLst>
              <a:gd name="adj" fmla="val 36364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7512" y="416052"/>
            <a:ext cx="15105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30" kern="0" dirty="0">
                <a:solidFill>
                  <a:srgbClr val="B9F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INTELLIGENCE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48640" y="8321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-50" kern="0" dirty="0">
                <a:solidFill>
                  <a:srgbClr val="EAF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Context-aware risk, not constant pop-ups.</a:t>
            </a:r>
            <a:endParaRPr lang="en-US" sz="3000" dirty="0"/>
          </a:p>
        </p:txBody>
      </p:sp>
      <p:sp>
        <p:nvSpPr>
          <p:cNvPr id="56" name="Text 54"/>
          <p:cNvSpPr/>
          <p:nvPr/>
        </p:nvSpPr>
        <p:spPr>
          <a:xfrm>
            <a:off x="557784" y="149047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9CAF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risk policies — numeric thresholds are configurable and require validation.</a:t>
            </a:r>
            <a:endParaRPr lang="en-US" sz="1320" dirty="0"/>
          </a:p>
        </p:txBody>
      </p:sp>
      <p:sp>
        <p:nvSpPr>
          <p:cNvPr id="57" name="Shape 55"/>
          <p:cNvSpPr/>
          <p:nvPr/>
        </p:nvSpPr>
        <p:spPr>
          <a:xfrm>
            <a:off x="685800" y="2075688"/>
            <a:ext cx="10789920" cy="960120"/>
          </a:xfrm>
          <a:prstGeom prst="roundRect">
            <a:avLst>
              <a:gd name="adj" fmla="val 13333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5800" y="2075688"/>
            <a:ext cx="68580" cy="960120"/>
          </a:xfrm>
          <a:prstGeom prst="roundRect">
            <a:avLst>
              <a:gd name="adj" fmla="val 186667"/>
            </a:avLst>
          </a:prstGeom>
          <a:solidFill>
            <a:srgbClr val="53F5A8"/>
          </a:solidFill>
          <a:ln w="12700">
            <a:solidFill>
              <a:srgbClr val="53F5A8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32688" y="22494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53F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RISK</a:t>
            </a:r>
            <a:endParaRPr lang="en-US" sz="1480" dirty="0"/>
          </a:p>
        </p:txBody>
      </p:sp>
      <p:sp>
        <p:nvSpPr>
          <p:cNvPr id="60" name="Text 58"/>
          <p:cNvSpPr/>
          <p:nvPr/>
        </p:nvSpPr>
        <p:spPr>
          <a:xfrm>
            <a:off x="3017520" y="2249424"/>
            <a:ext cx="1435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60" b="1" dirty="0">
                <a:solidFill>
                  <a:srgbClr val="EAF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0–29</a:t>
            </a:r>
            <a:endParaRPr lang="en-US" sz="2060" dirty="0"/>
          </a:p>
        </p:txBody>
      </p:sp>
      <p:sp>
        <p:nvSpPr>
          <p:cNvPr id="61" name="Shape 59"/>
          <p:cNvSpPr/>
          <p:nvPr/>
        </p:nvSpPr>
        <p:spPr>
          <a:xfrm>
            <a:off x="4864608" y="2368296"/>
            <a:ext cx="1024128" cy="301752"/>
          </a:xfrm>
          <a:prstGeom prst="roundRect">
            <a:avLst>
              <a:gd name="adj" fmla="val 36364"/>
            </a:avLst>
          </a:prstGeom>
          <a:solidFill>
            <a:srgbClr val="0D1512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83480" y="2436876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30" kern="0" dirty="0">
                <a:solidFill>
                  <a:srgbClr val="53F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739128" y="2240280"/>
            <a:ext cx="43159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EAF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Routine read/edit within approved workspace</a:t>
            </a:r>
            <a:endParaRPr lang="en-US" sz="1310" dirty="0"/>
          </a:p>
        </p:txBody>
      </p:sp>
      <p:sp>
        <p:nvSpPr>
          <p:cNvPr id="64" name="Shape 62"/>
          <p:cNvSpPr/>
          <p:nvPr/>
        </p:nvSpPr>
        <p:spPr>
          <a:xfrm>
            <a:off x="685800" y="3264408"/>
            <a:ext cx="10789920" cy="960120"/>
          </a:xfrm>
          <a:prstGeom prst="roundRect">
            <a:avLst>
              <a:gd name="adj" fmla="val 13333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85800" y="3264408"/>
            <a:ext cx="68580" cy="960120"/>
          </a:xfrm>
          <a:prstGeom prst="roundRect">
            <a:avLst>
              <a:gd name="adj" fmla="val 186667"/>
            </a:avLst>
          </a:prstGeom>
          <a:solidFill>
            <a:srgbClr val="FFBD6B"/>
          </a:solidFill>
          <a:ln w="12700">
            <a:solidFill>
              <a:srgbClr val="FFBD6B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32688" y="34381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FFB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RISK</a:t>
            </a:r>
            <a:endParaRPr lang="en-US" sz="1480" dirty="0"/>
          </a:p>
        </p:txBody>
      </p:sp>
      <p:sp>
        <p:nvSpPr>
          <p:cNvPr id="67" name="Text 65"/>
          <p:cNvSpPr/>
          <p:nvPr/>
        </p:nvSpPr>
        <p:spPr>
          <a:xfrm>
            <a:off x="3017520" y="3438144"/>
            <a:ext cx="1435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60" b="1" dirty="0">
                <a:solidFill>
                  <a:srgbClr val="EAF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30–69</a:t>
            </a:r>
            <a:endParaRPr lang="en-US" sz="2060" dirty="0"/>
          </a:p>
        </p:txBody>
      </p:sp>
      <p:sp>
        <p:nvSpPr>
          <p:cNvPr id="68" name="Shape 66"/>
          <p:cNvSpPr/>
          <p:nvPr/>
        </p:nvSpPr>
        <p:spPr>
          <a:xfrm>
            <a:off x="4864608" y="3557016"/>
            <a:ext cx="1527048" cy="301752"/>
          </a:xfrm>
          <a:prstGeom prst="roundRect">
            <a:avLst>
              <a:gd name="adj" fmla="val 36364"/>
            </a:avLst>
          </a:prstGeom>
          <a:solidFill>
            <a:srgbClr val="0D1512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83480" y="3625596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30" kern="0" dirty="0">
                <a:solidFill>
                  <a:srgbClr val="FFB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/ WARN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6739128" y="3429000"/>
            <a:ext cx="43159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EAF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Bulk actions, unusual files, scope drift</a:t>
            </a:r>
            <a:endParaRPr lang="en-US" sz="1310" dirty="0"/>
          </a:p>
        </p:txBody>
      </p:sp>
      <p:sp>
        <p:nvSpPr>
          <p:cNvPr id="71" name="Shape 69"/>
          <p:cNvSpPr/>
          <p:nvPr/>
        </p:nvSpPr>
        <p:spPr>
          <a:xfrm>
            <a:off x="685800" y="4453128"/>
            <a:ext cx="10789920" cy="960120"/>
          </a:xfrm>
          <a:prstGeom prst="roundRect">
            <a:avLst>
              <a:gd name="adj" fmla="val 13333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85800" y="4453128"/>
            <a:ext cx="68580" cy="960120"/>
          </a:xfrm>
          <a:prstGeom prst="roundRect">
            <a:avLst>
              <a:gd name="adj" fmla="val 186667"/>
            </a:avLst>
          </a:prstGeom>
          <a:solidFill>
            <a:srgbClr val="FF7186"/>
          </a:solidFill>
          <a:ln w="12700">
            <a:solidFill>
              <a:srgbClr val="FF7186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32688" y="46268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FF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RISK</a:t>
            </a:r>
            <a:endParaRPr lang="en-US" sz="1480" dirty="0"/>
          </a:p>
        </p:txBody>
      </p:sp>
      <p:sp>
        <p:nvSpPr>
          <p:cNvPr id="74" name="Text 72"/>
          <p:cNvSpPr/>
          <p:nvPr/>
        </p:nvSpPr>
        <p:spPr>
          <a:xfrm>
            <a:off x="3017520" y="4626864"/>
            <a:ext cx="1435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60" b="1" dirty="0">
                <a:solidFill>
                  <a:srgbClr val="EAF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70–100</a:t>
            </a:r>
            <a:endParaRPr lang="en-US" sz="2060" dirty="0"/>
          </a:p>
        </p:txBody>
      </p:sp>
      <p:sp>
        <p:nvSpPr>
          <p:cNvPr id="75" name="Shape 73"/>
          <p:cNvSpPr/>
          <p:nvPr/>
        </p:nvSpPr>
        <p:spPr>
          <a:xfrm>
            <a:off x="4864608" y="4745736"/>
            <a:ext cx="1828800" cy="301752"/>
          </a:xfrm>
          <a:prstGeom prst="roundRect">
            <a:avLst>
              <a:gd name="adj" fmla="val 36364"/>
            </a:avLst>
          </a:prstGeom>
          <a:solidFill>
            <a:srgbClr val="0D1512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983480" y="4814316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30" kern="0" dirty="0">
                <a:solidFill>
                  <a:srgbClr val="FF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 / PAUSE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6739128" y="4617720"/>
            <a:ext cx="43159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EAF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Destructive commands or credential exfiltration</a:t>
            </a:r>
            <a:endParaRPr lang="en-US" sz="1310" dirty="0"/>
          </a:p>
        </p:txBody>
      </p:sp>
      <p:sp>
        <p:nvSpPr>
          <p:cNvPr id="78" name="Text 76"/>
          <p:cNvSpPr/>
          <p:nvPr/>
        </p:nvSpPr>
        <p:spPr>
          <a:xfrm>
            <a:off x="731520" y="5815584"/>
            <a:ext cx="10826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9CAF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Inputs: user instruction + agent identity + tool call + file sensitivity + behavior history + policy.</a:t>
            </a:r>
            <a:endParaRPr lang="en-US" sz="13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0A"/>
          </a:solidFill>
          <a:ln w="12700">
            <a:solidFill>
              <a:srgbClr val="060B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74980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55448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95681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35915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76148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16382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56616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37083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477316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17550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57784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598017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638251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678484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718718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799185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839419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879652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19886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1000353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040587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1080820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1121054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161288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201521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0" y="274320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0" y="676656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0" y="1481328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0" y="1883664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0" y="2688336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0" y="3090672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0" y="3493008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0" y="3895344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0" y="4297680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0" y="4700016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0" y="5504688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0" y="5907024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0" y="6309360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0" y="6711696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B9FF3B"/>
          </a:solidFill>
          <a:ln w="12700">
            <a:solidFill>
              <a:srgbClr val="B9FF3B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" y="6528816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spc="120" kern="0" dirty="0">
                <a:solidFill>
                  <a:srgbClr val="7D9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 / HACK-A-THRONE 2026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10927080" y="6510528"/>
            <a:ext cx="713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7D9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08</a:t>
            </a:r>
            <a:endParaRPr lang="en-US" sz="860" dirty="0"/>
          </a:p>
        </p:txBody>
      </p:sp>
      <p:sp>
        <p:nvSpPr>
          <p:cNvPr id="53" name="Shape 51"/>
          <p:cNvSpPr/>
          <p:nvPr/>
        </p:nvSpPr>
        <p:spPr>
          <a:xfrm>
            <a:off x="548640" y="347472"/>
            <a:ext cx="1591056" cy="301752"/>
          </a:xfrm>
          <a:prstGeom prst="roundRect">
            <a:avLst>
              <a:gd name="adj" fmla="val 36364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7512" y="416052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30" kern="0" dirty="0">
                <a:solidFill>
                  <a:srgbClr val="B9F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DIFFERENTIATION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48640" y="8321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-50" kern="0" dirty="0">
                <a:solidFill>
                  <a:srgbClr val="EAF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intent–action mismatch &amp; anomalous behavior.</a:t>
            </a:r>
            <a:endParaRPr lang="en-US" sz="3000" dirty="0"/>
          </a:p>
        </p:txBody>
      </p:sp>
      <p:sp>
        <p:nvSpPr>
          <p:cNvPr id="56" name="Text 54"/>
          <p:cNvSpPr/>
          <p:nvPr/>
        </p:nvSpPr>
        <p:spPr>
          <a:xfrm>
            <a:off x="557784" y="149047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9CAF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 transparent rules with contextual AI assistance, while keeping decisions auditable.</a:t>
            </a:r>
            <a:endParaRPr lang="en-US" sz="1320" dirty="0"/>
          </a:p>
        </p:txBody>
      </p:sp>
      <p:sp>
        <p:nvSpPr>
          <p:cNvPr id="57" name="Shape 55"/>
          <p:cNvSpPr/>
          <p:nvPr/>
        </p:nvSpPr>
        <p:spPr>
          <a:xfrm>
            <a:off x="630936" y="1993392"/>
            <a:ext cx="5266944" cy="1618488"/>
          </a:xfrm>
          <a:prstGeom prst="roundRect">
            <a:avLst>
              <a:gd name="adj" fmla="val 9040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30936" y="1993392"/>
            <a:ext cx="50292" cy="1618488"/>
          </a:xfrm>
          <a:prstGeom prst="rect">
            <a:avLst/>
          </a:prstGeom>
          <a:solidFill>
            <a:srgbClr val="B9FF3B"/>
          </a:solidFill>
          <a:ln w="12700">
            <a:solidFill>
              <a:srgbClr val="B9FF3B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13816" y="2157984"/>
            <a:ext cx="466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9F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22960" y="2651760"/>
            <a:ext cx="4855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VS ACTION</a:t>
            </a:r>
            <a:endParaRPr lang="en-US" sz="1700" dirty="0"/>
          </a:p>
        </p:txBody>
      </p:sp>
      <p:sp>
        <p:nvSpPr>
          <p:cNvPr id="61" name="Text 59"/>
          <p:cNvSpPr/>
          <p:nvPr/>
        </p:nvSpPr>
        <p:spPr>
          <a:xfrm>
            <a:off x="822960" y="3072384"/>
            <a:ext cx="4873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CAF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agent tasked to format reports attempts to delete a project folder.</a:t>
            </a:r>
            <a:endParaRPr lang="en-US" sz="1280" dirty="0"/>
          </a:p>
        </p:txBody>
      </p:sp>
      <p:sp>
        <p:nvSpPr>
          <p:cNvPr id="62" name="Shape 60"/>
          <p:cNvSpPr/>
          <p:nvPr/>
        </p:nvSpPr>
        <p:spPr>
          <a:xfrm>
            <a:off x="6190488" y="1993392"/>
            <a:ext cx="5266944" cy="1618488"/>
          </a:xfrm>
          <a:prstGeom prst="roundRect">
            <a:avLst>
              <a:gd name="adj" fmla="val 9040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190488" y="1993392"/>
            <a:ext cx="50292" cy="1618488"/>
          </a:xfrm>
          <a:prstGeom prst="rect">
            <a:avLst/>
          </a:prstGeom>
          <a:solidFill>
            <a:srgbClr val="53F5A8"/>
          </a:solidFill>
          <a:ln w="12700">
            <a:solidFill>
              <a:srgbClr val="53F5A8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73368" y="2157984"/>
            <a:ext cx="466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3F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382512" y="2651760"/>
            <a:ext cx="4855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BURSTS</a:t>
            </a:r>
            <a:endParaRPr lang="en-US" sz="1700" dirty="0"/>
          </a:p>
        </p:txBody>
      </p:sp>
      <p:sp>
        <p:nvSpPr>
          <p:cNvPr id="66" name="Text 64"/>
          <p:cNvSpPr/>
          <p:nvPr/>
        </p:nvSpPr>
        <p:spPr>
          <a:xfrm>
            <a:off x="6382512" y="3072384"/>
            <a:ext cx="4873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CAF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Unusual volume of renames, writes or deletes in a short period.</a:t>
            </a:r>
            <a:endParaRPr lang="en-US" sz="1280" dirty="0"/>
          </a:p>
        </p:txBody>
      </p:sp>
      <p:sp>
        <p:nvSpPr>
          <p:cNvPr id="67" name="Shape 65"/>
          <p:cNvSpPr/>
          <p:nvPr/>
        </p:nvSpPr>
        <p:spPr>
          <a:xfrm>
            <a:off x="630936" y="3877056"/>
            <a:ext cx="5266944" cy="1618488"/>
          </a:xfrm>
          <a:prstGeom prst="roundRect">
            <a:avLst>
              <a:gd name="adj" fmla="val 9040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30936" y="3877056"/>
            <a:ext cx="50292" cy="1618488"/>
          </a:xfrm>
          <a:prstGeom prst="rect">
            <a:avLst/>
          </a:prstGeom>
          <a:solidFill>
            <a:srgbClr val="53F5A8"/>
          </a:solidFill>
          <a:ln w="12700">
            <a:solidFill>
              <a:srgbClr val="53F5A8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13816" y="4041648"/>
            <a:ext cx="466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3F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22960" y="4535424"/>
            <a:ext cx="4855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SENSITIVE BOUNDARIES</a:t>
            </a:r>
            <a:endParaRPr lang="en-US" sz="1700" dirty="0"/>
          </a:p>
        </p:txBody>
      </p:sp>
      <p:sp>
        <p:nvSpPr>
          <p:cNvPr id="71" name="Text 69"/>
          <p:cNvSpPr/>
          <p:nvPr/>
        </p:nvSpPr>
        <p:spPr>
          <a:xfrm>
            <a:off x="822960" y="4956048"/>
            <a:ext cx="4873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CAF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 stores, personal files and out-of-scope paths receive stricter controls.</a:t>
            </a:r>
            <a:endParaRPr lang="en-US" sz="1280" dirty="0"/>
          </a:p>
        </p:txBody>
      </p:sp>
      <p:sp>
        <p:nvSpPr>
          <p:cNvPr id="72" name="Shape 70"/>
          <p:cNvSpPr/>
          <p:nvPr/>
        </p:nvSpPr>
        <p:spPr>
          <a:xfrm>
            <a:off x="6190488" y="3877056"/>
            <a:ext cx="5266944" cy="1618488"/>
          </a:xfrm>
          <a:prstGeom prst="roundRect">
            <a:avLst>
              <a:gd name="adj" fmla="val 9040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190488" y="3877056"/>
            <a:ext cx="50292" cy="1618488"/>
          </a:xfrm>
          <a:prstGeom prst="rect">
            <a:avLst/>
          </a:prstGeom>
          <a:solidFill>
            <a:srgbClr val="80DFF8"/>
          </a:solidFill>
          <a:ln w="12700">
            <a:solidFill>
              <a:srgbClr val="80DFF8">
                <a:alpha val="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373368" y="4041648"/>
            <a:ext cx="466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0DF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382512" y="4535424"/>
            <a:ext cx="4855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EXPLAINABLE EVENTS</a:t>
            </a:r>
            <a:endParaRPr lang="en-US" sz="1700" dirty="0"/>
          </a:p>
        </p:txBody>
      </p:sp>
      <p:sp>
        <p:nvSpPr>
          <p:cNvPr id="76" name="Text 74"/>
          <p:cNvSpPr/>
          <p:nvPr/>
        </p:nvSpPr>
        <p:spPr>
          <a:xfrm>
            <a:off x="6382512" y="4956048"/>
            <a:ext cx="4873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CAF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Plain-English alert, affected resources, evidence and proposed next step.</a:t>
            </a:r>
            <a:endParaRPr lang="en-US" sz="12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0A"/>
          </a:solidFill>
          <a:ln w="12700">
            <a:solidFill>
              <a:srgbClr val="060B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74980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55448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95681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35915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76148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16382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56616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37083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477316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17550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57784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598017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638251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678484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718718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799185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839419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879652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19886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1000353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040587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1080820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1121054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161288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201521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0" y="274320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0" y="676656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0" y="1481328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0" y="1883664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0" y="2688336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0" y="3090672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0" y="3493008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0" y="3895344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0" y="4297680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0" y="4700016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0" y="5504688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0" y="5907024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0" y="6309360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0" y="6711696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B9FF3B"/>
          </a:solidFill>
          <a:ln w="12700">
            <a:solidFill>
              <a:srgbClr val="B9FF3B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" y="6528816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spc="120" kern="0" dirty="0">
                <a:solidFill>
                  <a:srgbClr val="7D9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 / HACK-A-THRONE 2026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10927080" y="6510528"/>
            <a:ext cx="713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7D9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08</a:t>
            </a:r>
            <a:endParaRPr lang="en-US" sz="860" dirty="0"/>
          </a:p>
        </p:txBody>
      </p:sp>
      <p:sp>
        <p:nvSpPr>
          <p:cNvPr id="53" name="Shape 51"/>
          <p:cNvSpPr/>
          <p:nvPr/>
        </p:nvSpPr>
        <p:spPr>
          <a:xfrm>
            <a:off x="548640" y="347472"/>
            <a:ext cx="1826971" cy="301752"/>
          </a:xfrm>
          <a:prstGeom prst="roundRect">
            <a:avLst>
              <a:gd name="adj" fmla="val 36364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7512" y="416052"/>
            <a:ext cx="158922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30" kern="0" dirty="0">
                <a:solidFill>
                  <a:srgbClr val="B9F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APPROACH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48640" y="8321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-50" kern="0" dirty="0">
                <a:solidFill>
                  <a:srgbClr val="EAF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Modular architecture for a buildable MVP.</a:t>
            </a:r>
            <a:endParaRPr lang="en-US" sz="3000" dirty="0"/>
          </a:p>
        </p:txBody>
      </p:sp>
      <p:sp>
        <p:nvSpPr>
          <p:cNvPr id="56" name="Text 54"/>
          <p:cNvSpPr/>
          <p:nvPr/>
        </p:nvSpPr>
        <p:spPr>
          <a:xfrm>
            <a:off x="557784" y="149047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9CAF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controlled tool gateway can demonstrate enforcement before deeper OS-level integrations.</a:t>
            </a:r>
            <a:endParaRPr lang="en-US" sz="1320" dirty="0"/>
          </a:p>
        </p:txBody>
      </p:sp>
      <p:sp>
        <p:nvSpPr>
          <p:cNvPr id="57" name="Shape 55"/>
          <p:cNvSpPr/>
          <p:nvPr/>
        </p:nvSpPr>
        <p:spPr>
          <a:xfrm>
            <a:off x="713232" y="2331720"/>
            <a:ext cx="2029968" cy="1261872"/>
          </a:xfrm>
          <a:prstGeom prst="roundRect">
            <a:avLst>
              <a:gd name="adj" fmla="val 10145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2960" y="2560320"/>
            <a:ext cx="18105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10" b="1" dirty="0">
                <a:solidFill>
                  <a:srgbClr val="80DF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/ Task</a:t>
            </a:r>
            <a:endParaRPr lang="en-US" sz="1610" dirty="0"/>
          </a:p>
        </p:txBody>
      </p:sp>
      <p:sp>
        <p:nvSpPr>
          <p:cNvPr id="59" name="Text 57"/>
          <p:cNvSpPr/>
          <p:nvPr/>
        </p:nvSpPr>
        <p:spPr>
          <a:xfrm>
            <a:off x="804672" y="302666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9CAF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Registered agent + user intent</a:t>
            </a:r>
            <a:endParaRPr lang="en-US" sz="1130" dirty="0"/>
          </a:p>
        </p:txBody>
      </p:sp>
      <p:sp>
        <p:nvSpPr>
          <p:cNvPr id="60" name="Shape 58"/>
          <p:cNvSpPr/>
          <p:nvPr/>
        </p:nvSpPr>
        <p:spPr>
          <a:xfrm>
            <a:off x="3337560" y="2331720"/>
            <a:ext cx="2157984" cy="1261872"/>
          </a:xfrm>
          <a:prstGeom prst="roundRect">
            <a:avLst>
              <a:gd name="adj" fmla="val 10145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47288" y="2560320"/>
            <a:ext cx="19385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10" b="1" dirty="0">
                <a:solidFill>
                  <a:srgbClr val="B9F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Gateway</a:t>
            </a:r>
            <a:endParaRPr lang="en-US" sz="1610" dirty="0"/>
          </a:p>
        </p:txBody>
      </p:sp>
      <p:sp>
        <p:nvSpPr>
          <p:cNvPr id="62" name="Text 60"/>
          <p:cNvSpPr/>
          <p:nvPr/>
        </p:nvSpPr>
        <p:spPr>
          <a:xfrm>
            <a:off x="3429000" y="3026664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9CAF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Filesystem, shell, network wrappers</a:t>
            </a:r>
            <a:endParaRPr lang="en-US" sz="1130" dirty="0"/>
          </a:p>
        </p:txBody>
      </p:sp>
      <p:sp>
        <p:nvSpPr>
          <p:cNvPr id="63" name="Shape 61"/>
          <p:cNvSpPr/>
          <p:nvPr/>
        </p:nvSpPr>
        <p:spPr>
          <a:xfrm>
            <a:off x="6080760" y="2331720"/>
            <a:ext cx="2148840" cy="1261872"/>
          </a:xfrm>
          <a:prstGeom prst="roundRect">
            <a:avLst>
              <a:gd name="adj" fmla="val 10145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90488" y="2560320"/>
            <a:ext cx="19293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10" b="1" dirty="0">
                <a:solidFill>
                  <a:srgbClr val="53F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Engine</a:t>
            </a:r>
            <a:endParaRPr lang="en-US" sz="1610" dirty="0"/>
          </a:p>
        </p:txBody>
      </p:sp>
      <p:sp>
        <p:nvSpPr>
          <p:cNvPr id="65" name="Text 63"/>
          <p:cNvSpPr/>
          <p:nvPr/>
        </p:nvSpPr>
        <p:spPr>
          <a:xfrm>
            <a:off x="6172200" y="302666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9CAF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+ context + anomaly signals</a:t>
            </a:r>
            <a:endParaRPr lang="en-US" sz="1130" dirty="0"/>
          </a:p>
        </p:txBody>
      </p:sp>
      <p:sp>
        <p:nvSpPr>
          <p:cNvPr id="66" name="Shape 64"/>
          <p:cNvSpPr/>
          <p:nvPr/>
        </p:nvSpPr>
        <p:spPr>
          <a:xfrm>
            <a:off x="8833104" y="2331720"/>
            <a:ext cx="2386584" cy="1261872"/>
          </a:xfrm>
          <a:prstGeom prst="roundRect">
            <a:avLst>
              <a:gd name="adj" fmla="val 10145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942832" y="2560320"/>
            <a:ext cx="2167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10" b="1" dirty="0">
                <a:solidFill>
                  <a:srgbClr val="FFB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Decision</a:t>
            </a:r>
            <a:endParaRPr lang="en-US" sz="1610" dirty="0"/>
          </a:p>
        </p:txBody>
      </p:sp>
      <p:sp>
        <p:nvSpPr>
          <p:cNvPr id="68" name="Text 66"/>
          <p:cNvSpPr/>
          <p:nvPr/>
        </p:nvSpPr>
        <p:spPr>
          <a:xfrm>
            <a:off x="8924544" y="3026664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9CAF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Allow, request approval or block</a:t>
            </a:r>
            <a:endParaRPr lang="en-US" sz="1130" dirty="0"/>
          </a:p>
        </p:txBody>
      </p:sp>
      <p:sp>
        <p:nvSpPr>
          <p:cNvPr id="69" name="Shape 67"/>
          <p:cNvSpPr/>
          <p:nvPr/>
        </p:nvSpPr>
        <p:spPr>
          <a:xfrm>
            <a:off x="2770632" y="2935224"/>
            <a:ext cx="539496" cy="0"/>
          </a:xfrm>
          <a:prstGeom prst="line">
            <a:avLst/>
          </a:prstGeom>
          <a:noFill/>
          <a:ln w="25400">
            <a:solidFill>
              <a:srgbClr val="53F5A8"/>
            </a:solidFill>
            <a:prstDash val="solid"/>
            <a:headEnd type="none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5522976" y="2935224"/>
            <a:ext cx="530352" cy="0"/>
          </a:xfrm>
          <a:prstGeom prst="line">
            <a:avLst/>
          </a:prstGeom>
          <a:noFill/>
          <a:ln w="25400">
            <a:solidFill>
              <a:srgbClr val="53F5A8"/>
            </a:solidFill>
            <a:prstDash val="solid"/>
            <a:headEnd type="none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8257032" y="2935224"/>
            <a:ext cx="548640" cy="0"/>
          </a:xfrm>
          <a:prstGeom prst="line">
            <a:avLst/>
          </a:prstGeom>
          <a:noFill/>
          <a:ln w="25400">
            <a:solidFill>
              <a:srgbClr val="53F5A8"/>
            </a:solidFill>
            <a:prstDash val="solid"/>
            <a:headEnd type="none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987552" y="4325112"/>
            <a:ext cx="10104120" cy="777240"/>
          </a:xfrm>
          <a:prstGeom prst="roundRect">
            <a:avLst>
              <a:gd name="adj" fmla="val 16471"/>
            </a:avLst>
          </a:prstGeom>
          <a:solidFill>
            <a:srgbClr val="12231B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207008" y="45537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9F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LOGGING &amp; UI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2770632" y="4553712"/>
            <a:ext cx="8010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AF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timeline   •   Threat dashboard   •   Policies   •   Approval prompts   •   Audit reports</a:t>
            </a:r>
            <a:endParaRPr lang="en-US" sz="1350" dirty="0"/>
          </a:p>
        </p:txBody>
      </p:sp>
      <p:sp>
        <p:nvSpPr>
          <p:cNvPr id="75" name="Text 73"/>
          <p:cNvSpPr/>
          <p:nvPr/>
        </p:nvSpPr>
        <p:spPr>
          <a:xfrm>
            <a:off x="740664" y="5559552"/>
            <a:ext cx="1938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B9F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STACK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2743200" y="5532120"/>
            <a:ext cx="8924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9CAF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+ TypeScript  /  FastAPI + Python  /  Rules + optional LLM  /  SQLite  /  REST</a:t>
            </a:r>
            <a:endParaRPr lang="en-US" sz="13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0A"/>
          </a:solidFill>
          <a:ln w="12700">
            <a:solidFill>
              <a:srgbClr val="060B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74980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55448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95681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35915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76148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16382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56616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37083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477316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17550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57784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598017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638251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678484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718718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799185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839419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879652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19886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1000353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040587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1080820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1121054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161288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201521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0" y="274320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0" y="676656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0" y="1481328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0" y="1883664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0" y="2688336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0" y="3090672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0" y="3493008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0" y="3895344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0" y="4297680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0" y="4700016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0" y="5504688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0" y="5907024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0" y="6309360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0" y="6711696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B9FF3B"/>
          </a:solidFill>
          <a:ln w="12700">
            <a:solidFill>
              <a:srgbClr val="B9FF3B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" y="6528816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spc="120" kern="0" dirty="0">
                <a:solidFill>
                  <a:srgbClr val="7D9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 / HACK-A-THRONE 2026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10927080" y="6510528"/>
            <a:ext cx="713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7D9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08</a:t>
            </a:r>
            <a:endParaRPr lang="en-US" sz="860" dirty="0"/>
          </a:p>
        </p:txBody>
      </p:sp>
      <p:sp>
        <p:nvSpPr>
          <p:cNvPr id="53" name="Shape 51"/>
          <p:cNvSpPr/>
          <p:nvPr/>
        </p:nvSpPr>
        <p:spPr>
          <a:xfrm>
            <a:off x="548640" y="347472"/>
            <a:ext cx="1669694" cy="301752"/>
          </a:xfrm>
          <a:prstGeom prst="roundRect">
            <a:avLst>
              <a:gd name="adj" fmla="val 36364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7512" y="416052"/>
            <a:ext cx="14319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30" kern="0" dirty="0">
                <a:solidFill>
                  <a:srgbClr val="B9F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WALKTHROUGH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48640" y="8321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-50" kern="0" dirty="0">
                <a:solidFill>
                  <a:srgbClr val="EAF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file-deletion attempt becomes a controlled decision.</a:t>
            </a:r>
            <a:endParaRPr lang="en-US" sz="3000" dirty="0"/>
          </a:p>
        </p:txBody>
      </p:sp>
      <p:sp>
        <p:nvSpPr>
          <p:cNvPr id="56" name="Text 54"/>
          <p:cNvSpPr/>
          <p:nvPr/>
        </p:nvSpPr>
        <p:spPr>
          <a:xfrm>
            <a:off x="557784" y="149047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9CAF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hackathon demo flow (not a claim of already deployed OS-wide monitoring).</a:t>
            </a:r>
            <a:endParaRPr lang="en-US" sz="1320" dirty="0"/>
          </a:p>
        </p:txBody>
      </p:sp>
      <p:sp>
        <p:nvSpPr>
          <p:cNvPr id="57" name="Shape 55"/>
          <p:cNvSpPr/>
          <p:nvPr/>
        </p:nvSpPr>
        <p:spPr>
          <a:xfrm>
            <a:off x="768096" y="1993392"/>
            <a:ext cx="10661904" cy="603504"/>
          </a:xfrm>
          <a:prstGeom prst="roundRect">
            <a:avLst>
              <a:gd name="adj" fmla="val 21212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50392" y="2121408"/>
            <a:ext cx="329184" cy="329184"/>
          </a:xfrm>
          <a:prstGeom prst="roundRect">
            <a:avLst>
              <a:gd name="adj" fmla="val 38889"/>
            </a:avLst>
          </a:prstGeom>
          <a:solidFill>
            <a:srgbClr val="B9FF3B"/>
          </a:solidFill>
          <a:ln w="12700">
            <a:solidFill>
              <a:srgbClr val="B9FF3B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8680" y="218084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B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444752" y="2139696"/>
            <a:ext cx="1362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53F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</a:t>
            </a:r>
            <a:endParaRPr lang="en-US" sz="1330" dirty="0"/>
          </a:p>
        </p:txBody>
      </p:sp>
      <p:sp>
        <p:nvSpPr>
          <p:cNvPr id="61" name="Text 59"/>
          <p:cNvSpPr/>
          <p:nvPr/>
        </p:nvSpPr>
        <p:spPr>
          <a:xfrm>
            <a:off x="2916936" y="2121408"/>
            <a:ext cx="8183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 project assets in /workspace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68096" y="2734056"/>
            <a:ext cx="10661904" cy="603504"/>
          </a:xfrm>
          <a:prstGeom prst="roundRect">
            <a:avLst>
              <a:gd name="adj" fmla="val 21212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50392" y="2862072"/>
            <a:ext cx="329184" cy="329184"/>
          </a:xfrm>
          <a:prstGeom prst="roundRect">
            <a:avLst>
              <a:gd name="adj" fmla="val 38889"/>
            </a:avLst>
          </a:prstGeom>
          <a:solidFill>
            <a:srgbClr val="B9FF3B"/>
          </a:solidFill>
          <a:ln w="12700">
            <a:solidFill>
              <a:srgbClr val="B9FF3B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68680" y="292150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B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1444752" y="2880360"/>
            <a:ext cx="1362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53F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330" dirty="0"/>
          </a:p>
        </p:txBody>
      </p:sp>
      <p:sp>
        <p:nvSpPr>
          <p:cNvPr id="66" name="Text 64"/>
          <p:cNvSpPr/>
          <p:nvPr/>
        </p:nvSpPr>
        <p:spPr>
          <a:xfrm>
            <a:off x="2916936" y="2862072"/>
            <a:ext cx="8183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requests recursive deletion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768096" y="3474720"/>
            <a:ext cx="10661904" cy="603504"/>
          </a:xfrm>
          <a:prstGeom prst="roundRect">
            <a:avLst>
              <a:gd name="adj" fmla="val 21212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50392" y="3602736"/>
            <a:ext cx="329184" cy="329184"/>
          </a:xfrm>
          <a:prstGeom prst="roundRect">
            <a:avLst>
              <a:gd name="adj" fmla="val 38889"/>
            </a:avLst>
          </a:prstGeom>
          <a:solidFill>
            <a:srgbClr val="B9FF3B"/>
          </a:solidFill>
          <a:ln w="12700">
            <a:solidFill>
              <a:srgbClr val="B9FF3B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68680" y="366217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B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1444752" y="3621024"/>
            <a:ext cx="1362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53F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</a:t>
            </a:r>
            <a:endParaRPr lang="en-US" sz="1330" dirty="0"/>
          </a:p>
        </p:txBody>
      </p:sp>
      <p:sp>
        <p:nvSpPr>
          <p:cNvPr id="71" name="Text 69"/>
          <p:cNvSpPr/>
          <p:nvPr/>
        </p:nvSpPr>
        <p:spPr>
          <a:xfrm>
            <a:off x="2916936" y="3602736"/>
            <a:ext cx="8183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Mismatch + bulk deletion + protected path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768096" y="4215384"/>
            <a:ext cx="10661904" cy="603504"/>
          </a:xfrm>
          <a:prstGeom prst="roundRect">
            <a:avLst>
              <a:gd name="adj" fmla="val 21212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50392" y="4343400"/>
            <a:ext cx="329184" cy="329184"/>
          </a:xfrm>
          <a:prstGeom prst="roundRect">
            <a:avLst>
              <a:gd name="adj" fmla="val 38889"/>
            </a:avLst>
          </a:prstGeom>
          <a:solidFill>
            <a:srgbClr val="FF7186"/>
          </a:solidFill>
          <a:ln w="12700">
            <a:solidFill>
              <a:srgbClr val="FF7186">
                <a:alpha val="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68680" y="440283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B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1444752" y="4361688"/>
            <a:ext cx="1362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F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</a:t>
            </a:r>
            <a:endParaRPr lang="en-US" sz="1330" dirty="0"/>
          </a:p>
        </p:txBody>
      </p:sp>
      <p:sp>
        <p:nvSpPr>
          <p:cNvPr id="76" name="Text 74"/>
          <p:cNvSpPr/>
          <p:nvPr/>
        </p:nvSpPr>
        <p:spPr>
          <a:xfrm>
            <a:off x="2916936" y="4343400"/>
            <a:ext cx="8183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 operation; show concise explanation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768096" y="4956048"/>
            <a:ext cx="10661904" cy="603504"/>
          </a:xfrm>
          <a:prstGeom prst="roundRect">
            <a:avLst>
              <a:gd name="adj" fmla="val 21212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50392" y="5084064"/>
            <a:ext cx="329184" cy="329184"/>
          </a:xfrm>
          <a:prstGeom prst="roundRect">
            <a:avLst>
              <a:gd name="adj" fmla="val 38889"/>
            </a:avLst>
          </a:prstGeom>
          <a:solidFill>
            <a:srgbClr val="B9FF3B"/>
          </a:solidFill>
          <a:ln w="12700">
            <a:solidFill>
              <a:srgbClr val="B9FF3B">
                <a:alpha val="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68680" y="514350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B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1444752" y="5102352"/>
            <a:ext cx="1362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53F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330" dirty="0"/>
          </a:p>
        </p:txBody>
      </p:sp>
      <p:sp>
        <p:nvSpPr>
          <p:cNvPr id="81" name="Text 79"/>
          <p:cNvSpPr/>
          <p:nvPr/>
        </p:nvSpPr>
        <p:spPr>
          <a:xfrm>
            <a:off x="2916936" y="5084064"/>
            <a:ext cx="8183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views event and adjusts policy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0A"/>
          </a:solidFill>
          <a:ln w="12700">
            <a:solidFill>
              <a:srgbClr val="060B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74980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55448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95681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35915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76148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16382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56616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37083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477316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17550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57784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598017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638251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678484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718718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799185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839419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879652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19886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1000353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0405872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10808208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11210544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1612880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2015216" y="0"/>
            <a:ext cx="0" cy="685800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0" y="274320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0" y="676656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0" y="1481328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0" y="1883664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0" y="2688336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0" y="3090672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0" y="3493008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0" y="3895344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0" y="4297680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0" y="4700016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0" y="5504688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0" y="5907024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0" y="6309360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0" y="6711696"/>
            <a:ext cx="12191695" cy="0"/>
          </a:xfrm>
          <a:prstGeom prst="line">
            <a:avLst/>
          </a:prstGeom>
          <a:noFill/>
          <a:ln w="4191">
            <a:solidFill>
              <a:srgbClr val="192720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B9FF3B"/>
          </a:solidFill>
          <a:ln w="12700">
            <a:solidFill>
              <a:srgbClr val="B9FF3B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" y="6528816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spc="120" kern="0" dirty="0">
                <a:solidFill>
                  <a:srgbClr val="7D9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 / HACK-A-THRONE 2026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10927080" y="6510528"/>
            <a:ext cx="713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7D9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08</a:t>
            </a:r>
            <a:endParaRPr lang="en-US" sz="860" dirty="0"/>
          </a:p>
        </p:txBody>
      </p:sp>
      <p:sp>
        <p:nvSpPr>
          <p:cNvPr id="53" name="Shape 51"/>
          <p:cNvSpPr/>
          <p:nvPr/>
        </p:nvSpPr>
        <p:spPr>
          <a:xfrm>
            <a:off x="548640" y="347472"/>
            <a:ext cx="1905610" cy="301752"/>
          </a:xfrm>
          <a:prstGeom prst="roundRect">
            <a:avLst>
              <a:gd name="adj" fmla="val 36364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7512" y="416052"/>
            <a:ext cx="16678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30" kern="0" dirty="0">
                <a:solidFill>
                  <a:srgbClr val="B9F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&amp; NEXT STEPS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48640" y="8321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-50" kern="0" dirty="0">
                <a:solidFill>
                  <a:srgbClr val="EAF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Trustworthy autonomy needs a safety layer.</a:t>
            </a:r>
            <a:endParaRPr lang="en-US" sz="3000" dirty="0"/>
          </a:p>
        </p:txBody>
      </p:sp>
      <p:sp>
        <p:nvSpPr>
          <p:cNvPr id="56" name="Text 54"/>
          <p:cNvSpPr/>
          <p:nvPr/>
        </p:nvSpPr>
        <p:spPr>
          <a:xfrm>
            <a:off x="557784" y="149047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9CAF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AgentGuard is designed as a product-oriented security platform, starting with a verifiable MVP.</a:t>
            </a:r>
            <a:endParaRPr lang="en-US" sz="1320" dirty="0"/>
          </a:p>
        </p:txBody>
      </p:sp>
      <p:sp>
        <p:nvSpPr>
          <p:cNvPr id="57" name="Shape 55"/>
          <p:cNvSpPr/>
          <p:nvPr/>
        </p:nvSpPr>
        <p:spPr>
          <a:xfrm>
            <a:off x="676656" y="2039112"/>
            <a:ext cx="3410712" cy="1938528"/>
          </a:xfrm>
          <a:prstGeom prst="roundRect">
            <a:avLst>
              <a:gd name="adj" fmla="val 7547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76656" y="2039112"/>
            <a:ext cx="50292" cy="1938528"/>
          </a:xfrm>
          <a:prstGeom prst="rect">
            <a:avLst/>
          </a:prstGeom>
          <a:solidFill>
            <a:srgbClr val="B9FF3B"/>
          </a:solidFill>
          <a:ln w="12700">
            <a:solidFill>
              <a:srgbClr val="B9FF3B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8680" y="2276856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individuals</a:t>
            </a:r>
            <a:endParaRPr lang="en-US" sz="1700" dirty="0"/>
          </a:p>
        </p:txBody>
      </p:sp>
      <p:sp>
        <p:nvSpPr>
          <p:cNvPr id="60" name="Text 58"/>
          <p:cNvSpPr/>
          <p:nvPr/>
        </p:nvSpPr>
        <p:spPr>
          <a:xfrm>
            <a:off x="868680" y="27889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CAF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irreversible agent mistakes and clearer control over sensitive actions.</a:t>
            </a:r>
            <a:endParaRPr lang="en-US" sz="1280" dirty="0"/>
          </a:p>
        </p:txBody>
      </p:sp>
      <p:sp>
        <p:nvSpPr>
          <p:cNvPr id="61" name="Shape 59"/>
          <p:cNvSpPr/>
          <p:nvPr/>
        </p:nvSpPr>
        <p:spPr>
          <a:xfrm>
            <a:off x="4370832" y="2039112"/>
            <a:ext cx="3410712" cy="1938528"/>
          </a:xfrm>
          <a:prstGeom prst="roundRect">
            <a:avLst>
              <a:gd name="adj" fmla="val 7547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370832" y="2039112"/>
            <a:ext cx="50292" cy="1938528"/>
          </a:xfrm>
          <a:prstGeom prst="rect">
            <a:avLst/>
          </a:prstGeom>
          <a:solidFill>
            <a:srgbClr val="53F5A8"/>
          </a:solidFill>
          <a:ln w="12700">
            <a:solidFill>
              <a:srgbClr val="53F5A8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62856" y="2276856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teams</a:t>
            </a:r>
            <a:endParaRPr lang="en-US" sz="1700" dirty="0"/>
          </a:p>
        </p:txBody>
      </p:sp>
      <p:sp>
        <p:nvSpPr>
          <p:cNvPr id="64" name="Text 62"/>
          <p:cNvSpPr/>
          <p:nvPr/>
        </p:nvSpPr>
        <p:spPr>
          <a:xfrm>
            <a:off x="4562856" y="27889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CAF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agent policies, explainable incident trails and safer experimentation.</a:t>
            </a:r>
            <a:endParaRPr lang="en-US" sz="1280" dirty="0"/>
          </a:p>
        </p:txBody>
      </p:sp>
      <p:sp>
        <p:nvSpPr>
          <p:cNvPr id="65" name="Shape 63"/>
          <p:cNvSpPr/>
          <p:nvPr/>
        </p:nvSpPr>
        <p:spPr>
          <a:xfrm>
            <a:off x="8065008" y="2039112"/>
            <a:ext cx="3410712" cy="1938528"/>
          </a:xfrm>
          <a:prstGeom prst="roundRect">
            <a:avLst>
              <a:gd name="adj" fmla="val 7547"/>
            </a:avLst>
          </a:prstGeom>
          <a:solidFill>
            <a:srgbClr val="101A16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065008" y="2039112"/>
            <a:ext cx="50292" cy="1938528"/>
          </a:xfrm>
          <a:prstGeom prst="rect">
            <a:avLst/>
          </a:prstGeom>
          <a:solidFill>
            <a:srgbClr val="80DFF8"/>
          </a:solidFill>
          <a:ln w="12700">
            <a:solidFill>
              <a:srgbClr val="80DFF8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257032" y="2276856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the ecosystem</a:t>
            </a:r>
            <a:endParaRPr lang="en-US" sz="1700" dirty="0"/>
          </a:p>
        </p:txBody>
      </p:sp>
      <p:sp>
        <p:nvSpPr>
          <p:cNvPr id="68" name="Text 66"/>
          <p:cNvSpPr/>
          <p:nvPr/>
        </p:nvSpPr>
        <p:spPr>
          <a:xfrm>
            <a:off x="8257032" y="27889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CAF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path toward safer agent adoption as tool access and autonomy expand.</a:t>
            </a:r>
            <a:endParaRPr lang="en-US" sz="1280" dirty="0"/>
          </a:p>
        </p:txBody>
      </p:sp>
      <p:sp>
        <p:nvSpPr>
          <p:cNvPr id="69" name="Shape 67"/>
          <p:cNvSpPr/>
          <p:nvPr/>
        </p:nvSpPr>
        <p:spPr>
          <a:xfrm>
            <a:off x="676656" y="4471416"/>
            <a:ext cx="10799064" cy="996696"/>
          </a:xfrm>
          <a:prstGeom prst="roundRect">
            <a:avLst>
              <a:gd name="adj" fmla="val 12844"/>
            </a:avLst>
          </a:prstGeom>
          <a:solidFill>
            <a:srgbClr val="12231B"/>
          </a:solidFill>
          <a:ln w="12700">
            <a:solidFill>
              <a:srgbClr val="28423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05256" y="4718304"/>
            <a:ext cx="16276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9F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ROADMAP</a:t>
            </a:r>
            <a:endParaRPr lang="en-US" sz="1350" dirty="0"/>
          </a:p>
        </p:txBody>
      </p:sp>
      <p:sp>
        <p:nvSpPr>
          <p:cNvPr id="71" name="Text 69"/>
          <p:cNvSpPr/>
          <p:nvPr/>
        </p:nvSpPr>
        <p:spPr>
          <a:xfrm>
            <a:off x="2560320" y="4727448"/>
            <a:ext cx="8485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AF6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gateway  →  Risk policies  →  Live alerts  →  Incident replay  →  Broader integrations</a:t>
            </a:r>
            <a:endParaRPr lang="en-US" sz="1450" dirty="0"/>
          </a:p>
        </p:txBody>
      </p:sp>
      <p:sp>
        <p:nvSpPr>
          <p:cNvPr id="72" name="Text 70"/>
          <p:cNvSpPr/>
          <p:nvPr/>
        </p:nvSpPr>
        <p:spPr>
          <a:xfrm>
            <a:off x="685800" y="5852160"/>
            <a:ext cx="10698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70" b="1" spc="120" kern="0" dirty="0">
                <a:solidFill>
                  <a:srgbClr val="B9F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AGENTGUARD  /  LET AI ACT. KEEP HUMANS IN CONTROL.</a:t>
            </a:r>
            <a:endParaRPr lang="en-US" sz="14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Hack-A-Throne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AgentGuard — Hack-A-Throne 2026</dc:title>
  <dc:subject>AgentGuard — Hack-A-Throne</dc:subject>
  <dc:creator>OpenAI</dc:creator>
  <cp:lastModifiedBy>OpenAI</cp:lastModifiedBy>
  <cp:revision>1</cp:revision>
  <dcterms:created xsi:type="dcterms:W3CDTF">2026-10-12T17:36:42Z</dcterms:created>
  <dcterms:modified xsi:type="dcterms:W3CDTF">2026-10-12T17:36:42Z</dcterms:modified>
</cp:coreProperties>
</file>